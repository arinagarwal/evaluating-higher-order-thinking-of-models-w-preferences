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Hanken Grotesk Medium"/>
      <p:regular r:id="rId10"/>
      <p:bold r:id="rId11"/>
      <p:italic r:id="rId12"/>
      <p:boldItalic r:id="rId13"/>
    </p:embeddedFont>
    <p:embeddedFont>
      <p:font typeface="Neuton Light"/>
      <p:regular r:id="rId14"/>
      <p:bold r:id="rId15"/>
      <p:boldItalic r:id="rId16"/>
    </p:embeddedFont>
    <p:embeddedFont>
      <p:font typeface="Hanken Grotesk"/>
      <p:regular r:id="rId17"/>
      <p:bold r:id="rId18"/>
      <p:italic r:id="rId19"/>
      <p:boldItalic r:id="rId20"/>
    </p:embeddedFont>
    <p:embeddedFont>
      <p:font typeface="Hanken Grotesk SemiBold"/>
      <p:regular r:id="rId21"/>
      <p:bold r:id="rId22"/>
      <p:italic r:id="rId23"/>
      <p:boldItalic r:id="rId24"/>
    </p:embeddedFont>
    <p:embeddedFont>
      <p:font typeface="Neuton"/>
      <p:regular r:id="rId25"/>
      <p:bold r:id="rId26"/>
      <p:italic r:id="rId27"/>
    </p:embeddedFont>
    <p:embeddedFont>
      <p:font typeface="Hanken Grotesk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-boldItalic.fntdata"/><Relationship Id="rId22" Type="http://schemas.openxmlformats.org/officeDocument/2006/relationships/font" Target="fonts/HankenGroteskSemiBold-bold.fntdata"/><Relationship Id="rId21" Type="http://schemas.openxmlformats.org/officeDocument/2006/relationships/font" Target="fonts/HankenGroteskSemiBold-regular.fntdata"/><Relationship Id="rId24" Type="http://schemas.openxmlformats.org/officeDocument/2006/relationships/font" Target="fonts/HankenGroteskSemiBold-boldItalic.fntdata"/><Relationship Id="rId23" Type="http://schemas.openxmlformats.org/officeDocument/2006/relationships/font" Target="fonts/HankenGrotesk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euton-bold.fntdata"/><Relationship Id="rId25" Type="http://schemas.openxmlformats.org/officeDocument/2006/relationships/font" Target="fonts/Neuton-regular.fntdata"/><Relationship Id="rId28" Type="http://schemas.openxmlformats.org/officeDocument/2006/relationships/font" Target="fonts/HankenGroteskLight-regular.fntdata"/><Relationship Id="rId27" Type="http://schemas.openxmlformats.org/officeDocument/2006/relationships/font" Target="fonts/Neuto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nkenGrotesk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ankenGroteskLight-boldItalic.fntdata"/><Relationship Id="rId30" Type="http://schemas.openxmlformats.org/officeDocument/2006/relationships/font" Target="fonts/HankenGroteskLight-italic.fntdata"/><Relationship Id="rId11" Type="http://schemas.openxmlformats.org/officeDocument/2006/relationships/font" Target="fonts/HankenGroteskMedium-bold.fntdata"/><Relationship Id="rId10" Type="http://schemas.openxmlformats.org/officeDocument/2006/relationships/font" Target="fonts/HankenGroteskMedium-regular.fntdata"/><Relationship Id="rId13" Type="http://schemas.openxmlformats.org/officeDocument/2006/relationships/font" Target="fonts/HankenGroteskMedium-boldItalic.fntdata"/><Relationship Id="rId12" Type="http://schemas.openxmlformats.org/officeDocument/2006/relationships/font" Target="fonts/HankenGroteskMedium-italic.fntdata"/><Relationship Id="rId15" Type="http://schemas.openxmlformats.org/officeDocument/2006/relationships/font" Target="fonts/NeutonLight-bold.fntdata"/><Relationship Id="rId14" Type="http://schemas.openxmlformats.org/officeDocument/2006/relationships/font" Target="fonts/NeutonLight-regular.fntdata"/><Relationship Id="rId17" Type="http://schemas.openxmlformats.org/officeDocument/2006/relationships/font" Target="fonts/HankenGrotesk-regular.fntdata"/><Relationship Id="rId16" Type="http://schemas.openxmlformats.org/officeDocument/2006/relationships/font" Target="fonts/NeutonLight-boldItalic.fntdata"/><Relationship Id="rId19" Type="http://schemas.openxmlformats.org/officeDocument/2006/relationships/font" Target="fonts/HankenGrotesk-italic.fntdata"/><Relationship Id="rId18" Type="http://schemas.openxmlformats.org/officeDocument/2006/relationships/font" Target="fonts/HankenGrotes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bcca251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bcca251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bcca251324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bcca251324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bcca251324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bcca251324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c84d494e9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c84d494e9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Culinary Agent</a:t>
            </a:r>
            <a:endParaRPr/>
          </a:p>
        </p:txBody>
      </p:sp>
      <p:sp>
        <p:nvSpPr>
          <p:cNvPr id="621" name="Google Shape;621;p47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aa5844@columbia.edu</a:t>
            </a:r>
            <a:endParaRPr/>
          </a:p>
        </p:txBody>
      </p:sp>
      <p:sp>
        <p:nvSpPr>
          <p:cNvPr id="622" name="Google Shape;622;p47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Arin Agarwal</a:t>
            </a:r>
            <a:endParaRPr/>
          </a:p>
        </p:txBody>
      </p:sp>
      <p:sp>
        <p:nvSpPr>
          <p:cNvPr id="623" name="Google Shape;623;p47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624" name="Google Shape;624;p47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Spring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8"/>
          <p:cNvSpPr/>
          <p:nvPr/>
        </p:nvSpPr>
        <p:spPr>
          <a:xfrm rot="5400000">
            <a:off x="3455068" y="-504250"/>
            <a:ext cx="2208600" cy="87738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8"/>
          <p:cNvSpPr/>
          <p:nvPr/>
        </p:nvSpPr>
        <p:spPr>
          <a:xfrm rot="5400000">
            <a:off x="1274107" y="-573272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2" name="Google Shape;632;p48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8"/>
          <p:cNvSpPr/>
          <p:nvPr/>
        </p:nvSpPr>
        <p:spPr>
          <a:xfrm rot="5400000">
            <a:off x="5731432" y="-574447"/>
            <a:ext cx="2138100" cy="43416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4" name="Google Shape;634;p48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8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8"/>
          <p:cNvSpPr/>
          <p:nvPr/>
        </p:nvSpPr>
        <p:spPr>
          <a:xfrm>
            <a:off x="4815050" y="714700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8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639" name="Google Shape;639;p4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Overall Objective </a:t>
            </a:r>
            <a:endParaRPr/>
          </a:p>
        </p:txBody>
      </p:sp>
      <p:sp>
        <p:nvSpPr>
          <p:cNvPr id="640" name="Google Shape;640;p4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 Culinary Intelligence Agent that plans, adapts, and learns recipes under constraints, uncertainty, and human feedback.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Want to be able to input available ingredients, time, and nutrition constraints and get a viable recipe that hits all of these constraints, while optimizing flavor.</a:t>
            </a:r>
            <a:endParaRPr/>
          </a:p>
        </p:txBody>
      </p:sp>
      <p:sp>
        <p:nvSpPr>
          <p:cNvPr id="641" name="Google Shape;641;p4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Questions to Answer</a:t>
            </a:r>
            <a:endParaRPr/>
          </a:p>
        </p:txBody>
      </p:sp>
      <p:sp>
        <p:nvSpPr>
          <p:cNvPr id="642" name="Google Shape;642;p4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 lnSpcReduction="20000"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How can an agent plan multi step actions where outcomes are not completely observable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How can preferences such as taste, ingredients, culture, and nutrition be modeled and optimized together while still being consistent with culinary theory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Proposed </a:t>
            </a:r>
            <a:r>
              <a:rPr lang="en"/>
              <a:t>Architecture</a:t>
            </a:r>
            <a:r>
              <a:rPr lang="en"/>
              <a:t> </a:t>
            </a:r>
            <a:endParaRPr/>
          </a:p>
        </p:txBody>
      </p:sp>
      <p:pic>
        <p:nvPicPr>
          <p:cNvPr id="644" name="Google Shape;644;p48" title="Screenshot 2026-02-03 at 1.13.1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675" y="3469225"/>
            <a:ext cx="7402134" cy="13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9"/>
          <p:cNvSpPr/>
          <p:nvPr/>
        </p:nvSpPr>
        <p:spPr>
          <a:xfrm rot="5400000">
            <a:off x="3469875" y="-519250"/>
            <a:ext cx="2208600" cy="88038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0" name="Google Shape;650;p49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9"/>
          <p:cNvSpPr/>
          <p:nvPr/>
        </p:nvSpPr>
        <p:spPr>
          <a:xfrm rot="5400000">
            <a:off x="3490318" y="-2789375"/>
            <a:ext cx="2138100" cy="8773800"/>
          </a:xfrm>
          <a:prstGeom prst="roundRect">
            <a:avLst>
              <a:gd fmla="val 5925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52" name="Google Shape;652;p49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9"/>
          <p:cNvSpPr/>
          <p:nvPr/>
        </p:nvSpPr>
        <p:spPr>
          <a:xfrm>
            <a:off x="357725" y="2971932"/>
            <a:ext cx="2047800" cy="390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9"/>
          <p:cNvSpPr/>
          <p:nvPr/>
        </p:nvSpPr>
        <p:spPr>
          <a:xfrm>
            <a:off x="357725" y="715875"/>
            <a:ext cx="2047800" cy="37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9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Additional Data to Use</a:t>
            </a:r>
            <a:endParaRPr/>
          </a:p>
        </p:txBody>
      </p:sp>
      <p:sp>
        <p:nvSpPr>
          <p:cNvPr id="656" name="Google Shape;656;p49"/>
          <p:cNvSpPr txBox="1"/>
          <p:nvPr>
            <p:ph idx="1" type="body"/>
          </p:nvPr>
        </p:nvSpPr>
        <p:spPr>
          <a:xfrm>
            <a:off x="230400" y="1096250"/>
            <a:ext cx="4341600" cy="14754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We will use structured recipe data so that the agent can learn cooking procedures. The Recipe1M dataset is probably where we will start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Also graphs taken from the culinary institute of america </a:t>
            </a:r>
            <a:r>
              <a:rPr lang="en"/>
              <a:t>concerning</a:t>
            </a:r>
            <a:r>
              <a:rPr lang="en"/>
              <a:t> ingredient similarity, </a:t>
            </a:r>
            <a:r>
              <a:rPr lang="en"/>
              <a:t>cuisine</a:t>
            </a:r>
            <a:r>
              <a:rPr lang="en"/>
              <a:t> specific pairings, and complementary flavor profiles</a:t>
            </a:r>
            <a:endParaRPr/>
          </a:p>
        </p:txBody>
      </p:sp>
      <p:sp>
        <p:nvSpPr>
          <p:cNvPr id="657" name="Google Shape;657;p49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Evaluation Methods</a:t>
            </a:r>
            <a:endParaRPr/>
          </a:p>
        </p:txBody>
      </p:sp>
      <p:sp>
        <p:nvSpPr>
          <p:cNvPr id="658" name="Google Shape;658;p49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Success rate under constraints such as missing ingredients, allergies/ dietary restrictions, and time constraints.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Adaptation to noise, such as overcooking/ overseasoning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Food </a:t>
            </a:r>
            <a:r>
              <a:rPr lang="en"/>
              <a:t>safety</a:t>
            </a:r>
            <a:r>
              <a:rPr lang="en"/>
              <a:t> rule compliance 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Culinary school exams</a:t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4513950" y="1096250"/>
            <a:ext cx="4341600" cy="14754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/>
              <a:t>Likely will use an online LLM like GPT or llama to </a:t>
            </a:r>
            <a:r>
              <a:rPr lang="en"/>
              <a:t>help</a:t>
            </a:r>
            <a:r>
              <a:rPr lang="en"/>
              <a:t> support complex reasoning involved in recipe </a:t>
            </a:r>
            <a:r>
              <a:rPr lang="en"/>
              <a:t>creation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0"/>
          <p:cNvSpPr txBox="1"/>
          <p:nvPr>
            <p:ph idx="1" type="body"/>
          </p:nvPr>
        </p:nvSpPr>
        <p:spPr>
          <a:xfrm>
            <a:off x="311700" y="4230575"/>
            <a:ext cx="82581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Updated Arch. Instead of ingredient substitutions, maybe have ingredient combinations that pair well go into LLM prompt?</a:t>
            </a:r>
            <a:endParaRPr/>
          </a:p>
        </p:txBody>
      </p:sp>
      <p:pic>
        <p:nvPicPr>
          <p:cNvPr id="665" name="Google Shape;665;p50" title="Screenshot 2026-02-15 at 5.39.5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75" y="79551"/>
            <a:ext cx="9249486" cy="415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